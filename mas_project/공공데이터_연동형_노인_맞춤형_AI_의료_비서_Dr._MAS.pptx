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Relationship Id="rId2" Type="http://schemas.openxmlformats.org/officeDocument/2006/relationships/image" Target="../media/image2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3.jpeg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slideLayout" Target="../slideLayouts/slideLayout1.xml"  /><Relationship Id="rId5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6.jpeg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slideLayout" Target="../slideLayouts/slideLayout1.xml"  /><Relationship Id="rId6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10" Type="http://schemas.openxmlformats.org/officeDocument/2006/relationships/image" Target="../media/image17.png"  /><Relationship Id="rId11" Type="http://schemas.openxmlformats.org/officeDocument/2006/relationships/image" Target="../media/image18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jpe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14.png"  /><Relationship Id="rId8" Type="http://schemas.openxmlformats.org/officeDocument/2006/relationships/image" Target="../media/image15.png"  /><Relationship Id="rId9" Type="http://schemas.openxmlformats.org/officeDocument/2006/relationships/image" Target="../media/image1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26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9.jpe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Relationship Id="rId7" Type="http://schemas.openxmlformats.org/officeDocument/2006/relationships/image" Target="../media/image23.png"  /><Relationship Id="rId8" Type="http://schemas.openxmlformats.org/officeDocument/2006/relationships/image" Target="../media/image24.png"  /><Relationship Id="rId9" Type="http://schemas.openxmlformats.org/officeDocument/2006/relationships/image" Target="../media/image2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27.jpeg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Relationship Id="rId6" Type="http://schemas.openxmlformats.org/officeDocument/2006/relationships/image" Target="../media/image32.png"  /><Relationship Id="rId7" Type="http://schemas.openxmlformats.org/officeDocument/2006/relationships/slideLayout" Target="../slideLayouts/slideLayout1.xml"  /><Relationship Id="rId8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33.jpeg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Relationship Id="rId4" Type="http://schemas.openxmlformats.org/officeDocument/2006/relationships/slideLayout" Target="../slideLayouts/slideLayout1.xml"  /><Relationship Id="rId5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10" Type="http://schemas.openxmlformats.org/officeDocument/2006/relationships/image" Target="../media/image43.png"  /><Relationship Id="rId11" Type="http://schemas.openxmlformats.org/officeDocument/2006/relationships/image" Target="../media/image44.png"  /><Relationship Id="rId12" Type="http://schemas.openxmlformats.org/officeDocument/2006/relationships/image" Target="../media/image4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6.jpeg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Relationship Id="rId8" Type="http://schemas.openxmlformats.org/officeDocument/2006/relationships/image" Target="../media/image41.png"  /><Relationship Id="rId9" Type="http://schemas.openxmlformats.org/officeDocument/2006/relationships/image" Target="../media/image4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46.jpeg"  /><Relationship Id="rId2" Type="http://schemas.openxmlformats.org/officeDocument/2006/relationships/image" Target="../media/image47.png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Relationship Id="rId5" Type="http://schemas.openxmlformats.org/officeDocument/2006/relationships/image" Target="../media/image50.png"  /><Relationship Id="rId6" Type="http://schemas.openxmlformats.org/officeDocument/2006/relationships/slideLayout" Target="../slideLayouts/slideLayout1.xml"  /><Relationship Id="rId7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image" Target="../media/image51.jpeg"  /><Relationship Id="rId2" Type="http://schemas.openxmlformats.org/officeDocument/2006/relationships/image" Target="../media/image52.png"  /><Relationship Id="rId3" Type="http://schemas.openxmlformats.org/officeDocument/2006/relationships/image" Target="../media/image53.png"  /><Relationship Id="rId4" Type="http://schemas.openxmlformats.org/officeDocument/2006/relationships/slideLayout" Target="../slideLayouts/slideLayout1.xml"  /><Relationship Id="rId5" Type="http://schemas.openxmlformats.org/officeDocument/2006/relationships/notesSlide" Target="../notesSlides/notesSlide10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469" y="357188"/>
            <a:ext cx="1607344" cy="14287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2500313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2443163"/>
            <a:ext cx="9144000" cy="5715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201309"/>
            <a:ext cx="80010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의료 사각지대를 해소하는 지능형 홈케</a:t>
            </a:r>
            <a:r>
              <a:rPr lang="en-US" sz="3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어 솔루션</a:t>
            </a:r>
            <a:r>
              <a:rPr lang="en-US" sz="3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
</a:t>
            </a:r>
            <a:r>
              <a:rPr lang="en-US" sz="3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Dr. M.A.S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571500" y="1990037"/>
            <a:ext cx="8001000" cy="30896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Medical Assistant System: 자연어 증상 분석 및 병원 매칭 서비스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71500" y="2786063"/>
            <a:ext cx="30861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Project Team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팀장: 박윤성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팀원: 박세준, 강명석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943350" y="2786063"/>
            <a:ext cx="46291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Roles &amp; Responsibilities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박윤성: UI/UX 설계 (Barrier-Free), DB 구축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박세준: 백엔드 서버 구축, 표준 API 연동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
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강명석: AI 증상 분석 엔진 고도화, 매핑 로직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71500" y="4591645"/>
            <a:ext cx="1548408" cy="266105"/>
          </a:xfrm>
          <a:prstGeom prst="roundRect">
            <a:avLst/>
          </a:prstGeom>
          <a:solidFill>
            <a:srgbClr val="F6AD55"/>
          </a:solidFill>
          <a:ln/>
        </p:spPr>
      </p:sp>
      <p:sp>
        <p:nvSpPr>
          <p:cNvPr id="11" name="Text 7"/>
          <p:cNvSpPr/>
          <p:nvPr/>
        </p:nvSpPr>
        <p:spPr>
          <a:xfrm>
            <a:off x="571500" y="4591645"/>
            <a:ext cx="1548408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#AI_Medical_Assistant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227064" y="4591645"/>
            <a:ext cx="1010841" cy="266105"/>
          </a:xfrm>
          <a:prstGeom prst="roundRect">
            <a:avLst/>
          </a:prstGeom>
          <a:solidFill>
            <a:srgbClr val="F6AD55"/>
          </a:solidFill>
          <a:ln/>
        </p:spPr>
      </p:sp>
      <p:sp>
        <p:nvSpPr>
          <p:cNvPr id="13" name="Text 9"/>
          <p:cNvSpPr/>
          <p:nvPr/>
        </p:nvSpPr>
        <p:spPr>
          <a:xfrm>
            <a:off x="2227064" y="4591645"/>
            <a:ext cx="1010841" cy="26610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#Barrier_Free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45061" y="4591645"/>
            <a:ext cx="1289447" cy="266105"/>
          </a:xfrm>
          <a:prstGeom prst="roundRect">
            <a:avLst/>
          </a:prstGeom>
          <a:solidFill>
            <a:srgbClr val="F6AD55"/>
          </a:solidFill>
          <a:ln/>
        </p:spPr>
      </p:sp>
      <p:sp>
        <p:nvSpPr>
          <p:cNvPr id="15" name="Text 11"/>
          <p:cNvSpPr/>
          <p:nvPr/>
        </p:nvSpPr>
        <p:spPr>
          <a:xfrm>
            <a:off x="3345061" y="4591645"/>
            <a:ext cx="1289447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#RAG_Technology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41664" y="4591645"/>
            <a:ext cx="975122" cy="266105"/>
          </a:xfrm>
          <a:prstGeom prst="roundRect">
            <a:avLst/>
          </a:prstGeom>
          <a:solidFill>
            <a:srgbClr val="F6AD55"/>
          </a:solidFill>
          <a:ln/>
        </p:spPr>
      </p:sp>
      <p:sp>
        <p:nvSpPr>
          <p:cNvPr id="17" name="Text 13"/>
          <p:cNvSpPr/>
          <p:nvPr/>
        </p:nvSpPr>
        <p:spPr>
          <a:xfrm>
            <a:off x="4741664" y="4591645"/>
            <a:ext cx="975122" cy="26610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#Home_Care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3686175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프로젝트 배경 및 필요성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7477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256" y="1207294"/>
            <a:ext cx="17145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의료 접근성 문제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71500" y="1623417"/>
            <a:ext cx="3929063" cy="5486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1인 가구 급증:</a:t>
            </a: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야간/주말 건강 이상 시 대처 인프</a:t>
            </a: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라 부족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257760"/>
            <a:ext cx="3929063" cy="5486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정보 불균형:</a:t>
            </a: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단순 검색 의존 시 부정확한 정보 노</a:t>
            </a: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출 위험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892103"/>
            <a:ext cx="3929063" cy="5486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디지털 소외:</a:t>
            </a: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복잡한 의료 앱 UI로 인한 고령층 접</a:t>
            </a: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근 장벽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47477"/>
            <a:ext cx="257175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07769" y="1207294"/>
            <a:ext cx="1428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현실적 필요성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643438" y="1623417"/>
            <a:ext cx="3929063" cy="5486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골든타임 확보를 위한 24시간 상시 의료 가이드 필요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643438" y="2257760"/>
            <a:ext cx="3929063" cy="2743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신뢰할 수 있는 공공 데이터 기반의 자가 진단 체계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643438" y="2617794"/>
            <a:ext cx="3929063" cy="2743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누구나 차별 없이 사용하는 배리어 프리 환경 구축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71500" y="3669320"/>
            <a:ext cx="8001000" cy="101977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3669320"/>
            <a:ext cx="57150" cy="101977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2"/>
          <p:cNvSpPr/>
          <p:nvPr/>
        </p:nvSpPr>
        <p:spPr>
          <a:xfrm>
            <a:off x="857250" y="3883633"/>
            <a:ext cx="74295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Dr. M.A.S의 제안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7250" y="4224747"/>
            <a:ext cx="742950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24시간 접근 가능한 AI 비서로 </a:t>
            </a:r>
            <a:r>
              <a:rPr lang="en-US" sz="13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골든타임</a:t>
            </a:r>
            <a:r>
              <a:rPr lang="en-US" sz="13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을 확보하고 </a:t>
            </a:r>
            <a:r>
              <a:rPr lang="en-US" sz="13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의료 사각지대</a:t>
            </a:r>
            <a:r>
              <a:rPr lang="en-US" sz="13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를 해소합니다.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2657475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과제 목표 및 비전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42950" y="1314450"/>
            <a:ext cx="2352666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배리어 프리 UI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2950" y="1691283"/>
            <a:ext cx="235266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누구나 차별 없이 누리는 직관적이고 친화적인 인터페이스 설계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481378" y="1314450"/>
            <a:ext cx="2352666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고정밀 AI 엔진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81378" y="1691283"/>
            <a:ext cx="235266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일상어 분석을 통한 높은 정확도의 질병 유추 및 가이드 제공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9806" y="1314450"/>
            <a:ext cx="235269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지능형 홈케어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9806" y="1691283"/>
            <a:ext cx="235269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자가 진단부터 병원 안내까지 이어지는 원스톱 의료 솔루션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1500" y="2448520"/>
            <a:ext cx="8001000" cy="109120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2448520"/>
            <a:ext cx="57150" cy="10912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0"/>
          <p:cNvSpPr/>
          <p:nvPr/>
        </p:nvSpPr>
        <p:spPr>
          <a:xfrm>
            <a:off x="857250" y="2662833"/>
            <a:ext cx="74295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핵심 가치 (Core Values)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006" y="308610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763" y="3075384"/>
            <a:ext cx="55721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신뢰성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488" y="30861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61244" y="3075384"/>
            <a:ext cx="55721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접근성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9" y="308610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37725" y="3075384"/>
            <a:ext cx="55721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연속성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445770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시스템 아키텍처 및 기술 스택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" y="1222474"/>
            <a:ext cx="208955" cy="185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7623" y="1207294"/>
            <a:ext cx="74473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07231" y="1523405"/>
            <a:ext cx="108049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HTML5, CSS3, JS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07231" y="1756274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Figma 기반 배리어 프리 UI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07231" y="2003431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대화형 인터페이스 중심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222474"/>
            <a:ext cx="185738" cy="1857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00375" y="1207294"/>
            <a:ext cx="721519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743200" y="1523405"/>
            <a:ext cx="10929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Node.js + Express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2743200" y="1756274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표준 API 규격 준수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743200" y="2003431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고성능 데이터 처리 최적화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69" y="1222474"/>
            <a:ext cx="162520" cy="1857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13127" y="1207294"/>
            <a:ext cx="784027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779169" y="1523405"/>
            <a:ext cx="52685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MariaDB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779169" y="1756274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진단 히스토리 누적 관리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779169" y="2003431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의약품 매핑 데이터베이스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138" y="1222474"/>
            <a:ext cx="185738" cy="1857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72313" y="1207294"/>
            <a:ext cx="79295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815138" y="1523405"/>
            <a:ext cx="10269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Gemini 1.5 Flash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6815138" y="1756274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자연어 증상 분석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815138" y="2003431"/>
            <a:ext cx="1757363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질병-의약품 매핑 로직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71500" y="2429182"/>
            <a:ext cx="8001000" cy="1848445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6" name="Shape 19"/>
          <p:cNvSpPr/>
          <p:nvPr/>
        </p:nvSpPr>
        <p:spPr>
          <a:xfrm>
            <a:off x="571500" y="2429182"/>
            <a:ext cx="57150" cy="184844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7" name="Text 20"/>
          <p:cNvSpPr/>
          <p:nvPr/>
        </p:nvSpPr>
        <p:spPr>
          <a:xfrm>
            <a:off x="857250" y="2607776"/>
            <a:ext cx="74295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아키텍처 흐름 및 성능 목표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92051" y="2989073"/>
            <a:ext cx="1457325" cy="364331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2051" y="2989073"/>
            <a:ext cx="1457325" cy="364331"/>
          </a:xfrm>
          <a:prstGeom prst="rect">
            <a:avLst/>
          </a:prstGeom>
          <a:noFill/>
          <a:ln/>
        </p:spPr>
        <p:txBody>
          <a:bodyPr wrap="square" lIns="127508" tIns="85090" rIns="127508" bIns="85090" anchor="t">
            <a:sp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사용자 일상어 입력</a:t>
            </a:r>
            <a:endParaRPr lang="en-US" sz="100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235528" y="3099801"/>
            <a:ext cx="125016" cy="14287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2442269" y="2984609"/>
            <a:ext cx="1116211" cy="364331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2442269" y="2984609"/>
            <a:ext cx="1116211" cy="364331"/>
          </a:xfrm>
          <a:prstGeom prst="rect">
            <a:avLst/>
          </a:prstGeom>
          <a:noFill/>
          <a:ln/>
        </p:spPr>
        <p:txBody>
          <a:bodyPr wrap="none" lIns="127508" tIns="85090" rIns="127508" bIns="85090" anchor="t">
            <a:sp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API 서버 중계</a:t>
            </a:r>
            <a:endParaRPr lang="en-US" sz="100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711178" y="3099801"/>
            <a:ext cx="125016" cy="14287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3899594" y="2989073"/>
            <a:ext cx="1344811" cy="364331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899594" y="2989073"/>
            <a:ext cx="1344811" cy="364331"/>
          </a:xfrm>
          <a:prstGeom prst="rect">
            <a:avLst/>
          </a:prstGeom>
          <a:noFill/>
          <a:ln/>
        </p:spPr>
        <p:txBody>
          <a:bodyPr wrap="square" lIns="127508" tIns="85090" rIns="127508" bIns="85090" anchor="t">
            <a:sp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AI 엔진 증상 분석</a:t>
            </a:r>
            <a:endParaRPr lang="en-US" sz="100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42632" y="3095337"/>
            <a:ext cx="125016" cy="142875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5593557" y="2989073"/>
            <a:ext cx="1314450" cy="364331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5593557" y="2989073"/>
            <a:ext cx="1314450" cy="364331"/>
          </a:xfrm>
          <a:prstGeom prst="rect">
            <a:avLst/>
          </a:prstGeom>
          <a:noFill/>
          <a:ln/>
        </p:spPr>
        <p:txBody>
          <a:bodyPr wrap="square" lIns="127508" tIns="85090" rIns="127508" bIns="85090" anchor="t">
            <a:sp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공공 데이터 매핑</a:t>
            </a:r>
            <a:endParaRPr lang="en-US" sz="100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7009805" y="3099801"/>
            <a:ext cx="125016" cy="14287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7217867" y="2989073"/>
            <a:ext cx="1248370" cy="364331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217867" y="2989073"/>
            <a:ext cx="1248370" cy="364331"/>
          </a:xfrm>
          <a:prstGeom prst="rect">
            <a:avLst/>
          </a:prstGeom>
          <a:noFill/>
          <a:ln/>
        </p:spPr>
        <p:txBody>
          <a:bodyPr wrap="none" lIns="127508" tIns="85090" rIns="127508" bIns="85090" anchor="t">
            <a:sp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응답 및 DB 저장</a:t>
            </a:r>
            <a:endParaRPr lang="en-US" sz="1000"/>
          </a:p>
        </p:txBody>
      </p:sp>
      <p:sp>
        <p:nvSpPr>
          <p:cNvPr id="42" name="Shape 31"/>
          <p:cNvSpPr/>
          <p:nvPr/>
        </p:nvSpPr>
        <p:spPr>
          <a:xfrm>
            <a:off x="692051" y="3514003"/>
            <a:ext cx="2280642" cy="24288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3" name="Text 32"/>
          <p:cNvSpPr/>
          <p:nvPr/>
        </p:nvSpPr>
        <p:spPr>
          <a:xfrm>
            <a:off x="692051" y="3514003"/>
            <a:ext cx="2280642" cy="242888"/>
          </a:xfrm>
          <a:prstGeom prst="rect">
            <a:avLst/>
          </a:prstGeom>
          <a:noFill/>
          <a:ln/>
        </p:spPr>
        <p:txBody>
          <a:bodyPr wrap="square" lIns="127508" tIns="42545" rIns="127508" bIns="42545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Roboto Bold"/>
                <a:ea typeface="Roboto Bold"/>
                <a:cs typeface="Roboto Bold"/>
              </a:rPr>
              <a:t>시스템 응답 속도 2초 이내 유지 목표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6395442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핵심 기능 1 - 자연어 기반 증상 분석 (RAG)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42950" y="1207294"/>
            <a:ext cx="782955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일상어로 소통하는 AI 진단 엔진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2950" y="1512689"/>
            <a:ext cx="78295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사용자가 일상어로 입력한 통증을 분석하여 가능성이 높은 상위 3개(Top-3) 질병을 유추합니다.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201573" y="1967015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090" y="2117034"/>
            <a:ext cx="225028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1757" y="2552802"/>
            <a:ext cx="4196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7634" y="2740326"/>
            <a:ext cx="66794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증상 입력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1500" y="3010002"/>
            <a:ext cx="176020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"머리가 깨질 듯이 아파" 등 일상어 입력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81828" y="1967015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846" y="2117034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22011" y="2552802"/>
            <a:ext cx="4196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197889" y="2740326"/>
            <a:ext cx="66794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질병 유추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651754" y="3010002"/>
            <a:ext cx="176020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엔진이 증상 분석 및 Top-3 질병 도출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62082" y="1967015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602" y="2117034"/>
            <a:ext cx="175022" cy="200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02266" y="2552802"/>
            <a:ext cx="4196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199562" y="2740326"/>
            <a:ext cx="82510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데이터 검증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732009" y="3010002"/>
            <a:ext cx="176020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공공 의료 API 연동 근거 기반 답변 생성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7442336" y="1967015"/>
            <a:ext cx="500063" cy="50006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7358" y="2117034"/>
            <a:ext cx="150019" cy="2000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82520" y="2552802"/>
            <a:ext cx="4196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4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7279816" y="2740326"/>
            <a:ext cx="82510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가이드 출력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812263" y="3010002"/>
            <a:ext cx="176020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질병 정보 및 대처 가이드 실시간 제공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71500" y="3989784"/>
            <a:ext cx="8001000" cy="975122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8" name="Shape 21"/>
          <p:cNvSpPr/>
          <p:nvPr/>
        </p:nvSpPr>
        <p:spPr>
          <a:xfrm>
            <a:off x="571500" y="3989784"/>
            <a:ext cx="57150" cy="97512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9" name="Text 22"/>
          <p:cNvSpPr/>
          <p:nvPr/>
        </p:nvSpPr>
        <p:spPr>
          <a:xfrm>
            <a:off x="785813" y="4132659"/>
            <a:ext cx="7572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신뢰성 및 오판 방지 메커니즘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4557713"/>
            <a:ext cx="142875" cy="14287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08218" y="4477345"/>
            <a:ext cx="2273610" cy="30420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Top-3 질병 제시:단일 진단의 </a:t>
            </a:r>
            <a:endParaRPr lang="en-US" sz="1000" b="1">
              <a:solidFill>
                <a:srgbClr val="4a5568"/>
              </a:solidFill>
              <a:latin typeface="Roboto Bold"/>
              <a:ea typeface="Roboto Bold"/>
              <a:cs typeface="Roboto Bold"/>
            </a:endParaRPr>
          </a:p>
          <a:p>
            <a:pPr marL="0" indent="0" algn="l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위험성 최소화</a:t>
            </a:r>
            <a:endParaRPr lang="en-US" sz="1000"/>
          </a:p>
        </p:txBody>
      </p:sp>
      <p:sp>
        <p:nvSpPr>
          <p:cNvPr id="32" name="Text 24"/>
          <p:cNvSpPr/>
          <p:nvPr/>
        </p:nvSpPr>
        <p:spPr>
          <a:xfrm>
            <a:off x="1874944" y="4477345"/>
            <a:ext cx="30055" cy="1518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  <a:defRPr/>
            </a:pPr>
            <a:endParaRPr lang="en-US" sz="100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3380" y="4557713"/>
            <a:ext cx="142875" cy="14287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492053" y="4477345"/>
            <a:ext cx="32196" cy="1518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  <a:defRPr/>
            </a:pPr>
            <a:endParaRPr lang="en-US" sz="1000"/>
          </a:p>
        </p:txBody>
      </p:sp>
      <p:sp>
        <p:nvSpPr>
          <p:cNvPr id="35" name="Text 26"/>
          <p:cNvSpPr/>
          <p:nvPr/>
        </p:nvSpPr>
        <p:spPr>
          <a:xfrm>
            <a:off x="3436255" y="4477345"/>
            <a:ext cx="2175858" cy="30420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안전 메시지:불분명 시</a:t>
            </a:r>
            <a:endParaRPr lang="en-US" sz="1000" b="1">
              <a:solidFill>
                <a:srgbClr val="4a5568"/>
              </a:solidFill>
              <a:latin typeface="Roboto Bold"/>
              <a:ea typeface="Roboto Bold"/>
              <a:cs typeface="Roboto Bold"/>
            </a:endParaRPr>
          </a:p>
          <a:p>
            <a:pPr marL="0" indent="0" algn="l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 '병원 방문 권장' 출력</a:t>
            </a:r>
            <a:endParaRPr lang="en-US" sz="100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4167" y="4557713"/>
            <a:ext cx="142875" cy="14287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008480" y="4436269"/>
            <a:ext cx="30370" cy="14525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  <a:defRPr/>
            </a:pPr>
            <a:endParaRPr lang="en-US" sz="1000"/>
          </a:p>
        </p:txBody>
      </p:sp>
      <p:sp>
        <p:nvSpPr>
          <p:cNvPr id="38" name="Text 28"/>
          <p:cNvSpPr/>
          <p:nvPr/>
        </p:nvSpPr>
        <p:spPr>
          <a:xfrm>
            <a:off x="6008480" y="4477345"/>
            <a:ext cx="2421145" cy="30420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정확도 목표:</a:t>
            </a:r>
            <a:r>
              <a:rPr lang="ko-KR" alt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 </a:t>
            </a: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테스트 데이터 기준 </a:t>
            </a:r>
            <a:endParaRPr lang="en-US" sz="1000" b="1">
              <a:solidFill>
                <a:srgbClr val="4a5568"/>
              </a:solidFill>
              <a:latin typeface="Roboto Bold"/>
              <a:ea typeface="Roboto Bold"/>
              <a:cs typeface="Roboto Bold"/>
            </a:endParaRPr>
          </a:p>
          <a:p>
            <a:pPr marL="0" indent="0" algn="l">
              <a:buNone/>
              <a:defRPr/>
            </a:pPr>
            <a:r>
              <a:rPr lang="en-US" sz="1000" b="1">
                <a:solidFill>
                  <a:srgbClr val="4a5568"/>
                </a:solidFill>
                <a:latin typeface="Roboto Bold"/>
                <a:ea typeface="Roboto Bold"/>
                <a:cs typeface="Roboto Bold"/>
              </a:rPr>
              <a:t>일치율 90% 이상</a:t>
            </a:r>
            <a:endParaRPr lang="en-US" sz="1000" b="1">
              <a:solidFill>
                <a:srgbClr val="4a5568"/>
              </a:solidFill>
              <a:latin typeface="Roboto Bold"/>
              <a:ea typeface="Roboto Bold"/>
              <a:cs typeface="Robo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6247209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핵심 기능 2 - 지능형 약 정보 및 병원 매칭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83196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7281" y="1243013"/>
            <a:ext cx="20002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지능형 약 정보 매핑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1694855"/>
            <a:ext cx="368617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분석된 질병과 연관된 핵심 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일반 의약품 정보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(질병당 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2~3종)를 함께 제시하여 즉각적인 자가 진단 가이드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를 제공합니다.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283196"/>
            <a:ext cx="17145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64931" y="1243013"/>
            <a:ext cx="17145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실시간 병원 추천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886325" y="1694855"/>
            <a:ext cx="36861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사용자 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위치 데이터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를 활용해 즉시 방문 가능한 진료 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과목별 전문 병원 정보를 자동 매칭하여 안내합니다.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571500" y="2616398"/>
            <a:ext cx="8001000" cy="113942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2" name="Shape 7"/>
          <p:cNvSpPr/>
          <p:nvPr/>
        </p:nvSpPr>
        <p:spPr>
          <a:xfrm>
            <a:off x="571500" y="2616398"/>
            <a:ext cx="57150" cy="11394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8"/>
          <p:cNvSpPr/>
          <p:nvPr/>
        </p:nvSpPr>
        <p:spPr>
          <a:xfrm>
            <a:off x="857250" y="2794992"/>
            <a:ext cx="742950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서비스 실시 예시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57250" y="3152180"/>
            <a:ext cx="1590489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"머리가 깨질 듯이 아파"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614" y="3286125"/>
            <a:ext cx="98227" cy="1571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831716" y="3152180"/>
            <a:ext cx="1680121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편두통/긴장성 두통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유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추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711" y="3286125"/>
            <a:ext cx="98227" cy="1571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95813" y="3152180"/>
            <a:ext cx="1156395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진통제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성분 추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천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082" y="3286125"/>
            <a:ext cx="98227" cy="1571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36184" y="3152180"/>
            <a:ext cx="1850594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주변 </a:t>
            </a: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내과 정보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실시간 제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공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7120533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사용자 중심의 배리어 프리(Barrier-Free) UI/UX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83196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8706" y="1243013"/>
            <a:ext cx="18859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직관적 인터페이스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2950" y="1694855"/>
            <a:ext cx="36861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1인 가구 및 고령층을 고려하여, 복잡한 메뉴를 배제하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고 친숙한 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'대화형 인터페이스'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를 적용했습니다.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283196"/>
            <a:ext cx="257175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50656" y="1243013"/>
            <a:ext cx="1428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시각적 최적화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886325" y="1694855"/>
            <a:ext cx="3686175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가독성을 높인 폰트와 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명확한 대비(고대비)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의 색상 배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치를 통해 신체적 제약이 있는 사용자도 쉽게 접근 가</a:t>
            </a: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능합니다.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571500" y="2616398"/>
            <a:ext cx="8001000" cy="626864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2" name="Shape 7"/>
          <p:cNvSpPr/>
          <p:nvPr/>
        </p:nvSpPr>
        <p:spPr>
          <a:xfrm>
            <a:off x="571500" y="2616398"/>
            <a:ext cx="57150" cy="62686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8"/>
          <p:cNvSpPr/>
          <p:nvPr/>
        </p:nvSpPr>
        <p:spPr>
          <a:xfrm>
            <a:off x="857250" y="2794992"/>
            <a:ext cx="74295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"기술의 장벽을 낮추어 </a:t>
            </a:r>
            <a:r>
              <a:rPr lang="en-US" sz="14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누구나 차별 없이</a:t>
            </a: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누리는 디지털 헬스케어 환경"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5232797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개발 현황 — 핵심 인프라 구축 완료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11759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8681" y="1171575"/>
            <a:ext cx="14859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구현 완료 항목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75072" y="1555552"/>
            <a:ext cx="1230511" cy="391120"/>
          </a:xfrm>
          <a:prstGeom prst="rect">
            <a:avLst/>
          </a:prstGeom>
          <a:solidFill>
            <a:srgbClr val="2B6CB0"/>
          </a:solidFill>
          <a:ln w="9144">
            <a:solidFill>
              <a:srgbClr val="2B6CB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5072" y="1555552"/>
            <a:ext cx="1230511" cy="391120"/>
          </a:xfrm>
          <a:prstGeom prst="rect">
            <a:avLst/>
          </a:prstGeom>
          <a:noFill/>
          <a:ln/>
        </p:spPr>
        <p:txBody>
          <a:bodyPr wrap="non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구분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805583" y="1555552"/>
            <a:ext cx="2953243" cy="391120"/>
          </a:xfrm>
          <a:prstGeom prst="rect">
            <a:avLst/>
          </a:prstGeom>
          <a:solidFill>
            <a:srgbClr val="2B6CB0"/>
          </a:solidFill>
          <a:ln w="9144">
            <a:solidFill>
              <a:srgbClr val="2B6C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805583" y="1555552"/>
            <a:ext cx="2953243" cy="39112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내용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8826" y="1555552"/>
            <a:ext cx="738290" cy="391120"/>
          </a:xfrm>
          <a:prstGeom prst="rect">
            <a:avLst/>
          </a:prstGeom>
          <a:solidFill>
            <a:srgbClr val="2B6CB0"/>
          </a:solidFill>
          <a:ln w="9144">
            <a:solidFill>
              <a:srgbClr val="2B6C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8826" y="1555552"/>
            <a:ext cx="738290" cy="391120"/>
          </a:xfrm>
          <a:prstGeom prst="rect">
            <a:avLst/>
          </a:prstGeom>
          <a:noFill/>
          <a:ln/>
        </p:spPr>
        <p:txBody>
          <a:bodyPr wrap="none" lIns="136017" tIns="102108" rIns="136017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상태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75072" y="1939528"/>
            <a:ext cx="1230511" cy="60721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0"/>
          <p:cNvSpPr/>
          <p:nvPr/>
        </p:nvSpPr>
        <p:spPr>
          <a:xfrm>
            <a:off x="575072" y="1939528"/>
            <a:ext cx="1230511" cy="7144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5" name="Shape 11"/>
          <p:cNvSpPr/>
          <p:nvPr/>
        </p:nvSpPr>
        <p:spPr>
          <a:xfrm>
            <a:off x="1798439" y="1939528"/>
            <a:ext cx="7144" cy="607219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75072" y="2532459"/>
            <a:ext cx="1230511" cy="1428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7" name="Shape 13"/>
          <p:cNvSpPr/>
          <p:nvPr/>
        </p:nvSpPr>
        <p:spPr>
          <a:xfrm>
            <a:off x="575072" y="1939528"/>
            <a:ext cx="7144" cy="607219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8" name="Text 14"/>
          <p:cNvSpPr/>
          <p:nvPr/>
        </p:nvSpPr>
        <p:spPr>
          <a:xfrm>
            <a:off x="575072" y="1939528"/>
            <a:ext cx="1230511" cy="607219"/>
          </a:xfrm>
          <a:prstGeom prst="rect">
            <a:avLst/>
          </a:prstGeom>
          <a:noFill/>
          <a:ln/>
        </p:spPr>
        <p:txBody>
          <a:bodyPr wrap="non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서버 인프라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805583" y="1939528"/>
            <a:ext cx="2953243" cy="60721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Node.js + Express 서버 및 표준 API 규격화</a:t>
            </a:r>
            <a:endParaRPr lang="en-US" sz="11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93735" y="2077045"/>
            <a:ext cx="157163" cy="15716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49376" y="2041327"/>
            <a:ext cx="255389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완료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75072" y="2546747"/>
            <a:ext cx="1230511" cy="61079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Shape 18"/>
          <p:cNvSpPr/>
          <p:nvPr/>
        </p:nvSpPr>
        <p:spPr>
          <a:xfrm>
            <a:off x="575072" y="2546747"/>
            <a:ext cx="1230511" cy="7144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4" name="Shape 19"/>
          <p:cNvSpPr/>
          <p:nvPr/>
        </p:nvSpPr>
        <p:spPr>
          <a:xfrm>
            <a:off x="1798439" y="2546747"/>
            <a:ext cx="7144" cy="61079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5" name="Shape 20"/>
          <p:cNvSpPr/>
          <p:nvPr/>
        </p:nvSpPr>
        <p:spPr>
          <a:xfrm>
            <a:off x="575072" y="3143250"/>
            <a:ext cx="1230511" cy="1428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6" name="Shape 21"/>
          <p:cNvSpPr/>
          <p:nvPr/>
        </p:nvSpPr>
        <p:spPr>
          <a:xfrm>
            <a:off x="575072" y="2546747"/>
            <a:ext cx="7144" cy="61079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7" name="Text 22"/>
          <p:cNvSpPr/>
          <p:nvPr/>
        </p:nvSpPr>
        <p:spPr>
          <a:xfrm>
            <a:off x="575072" y="2546747"/>
            <a:ext cx="1230511" cy="610791"/>
          </a:xfrm>
          <a:prstGeom prst="rect">
            <a:avLst/>
          </a:prstGeom>
          <a:noFill/>
          <a:ln/>
        </p:spPr>
        <p:txBody>
          <a:bodyPr wrap="non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데이터베이스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805583" y="2546747"/>
            <a:ext cx="2953243" cy="61079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MariaDB 연동 및 히스토리 저장 시스템</a:t>
            </a:r>
            <a:endParaRPr lang="en-US" sz="11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793735" y="2698551"/>
            <a:ext cx="157163" cy="1571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49376" y="2652117"/>
            <a:ext cx="255389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완료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75072" y="3157538"/>
            <a:ext cx="1230511" cy="61079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Shape 26"/>
          <p:cNvSpPr/>
          <p:nvPr/>
        </p:nvSpPr>
        <p:spPr>
          <a:xfrm>
            <a:off x="575072" y="3157538"/>
            <a:ext cx="1230511" cy="7144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3" name="Shape 27"/>
          <p:cNvSpPr/>
          <p:nvPr/>
        </p:nvSpPr>
        <p:spPr>
          <a:xfrm>
            <a:off x="1798439" y="3157538"/>
            <a:ext cx="7144" cy="61079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4" name="Shape 28"/>
          <p:cNvSpPr/>
          <p:nvPr/>
        </p:nvSpPr>
        <p:spPr>
          <a:xfrm>
            <a:off x="575072" y="3754041"/>
            <a:ext cx="1230511" cy="1428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5" name="Shape 29"/>
          <p:cNvSpPr/>
          <p:nvPr/>
        </p:nvSpPr>
        <p:spPr>
          <a:xfrm>
            <a:off x="575072" y="3157538"/>
            <a:ext cx="7144" cy="61079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6" name="Text 30"/>
          <p:cNvSpPr/>
          <p:nvPr/>
        </p:nvSpPr>
        <p:spPr>
          <a:xfrm>
            <a:off x="575072" y="3157538"/>
            <a:ext cx="1230511" cy="610791"/>
          </a:xfrm>
          <a:prstGeom prst="rect">
            <a:avLst/>
          </a:prstGeom>
          <a:noFill/>
          <a:ln/>
        </p:spPr>
        <p:txBody>
          <a:bodyPr wrap="non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연동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805583" y="3157538"/>
            <a:ext cx="2953243" cy="61079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Gemini API 연동 및 증상 분석 로직 구현</a:t>
            </a:r>
            <a:endParaRPr lang="en-US" sz="11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793735" y="3262908"/>
            <a:ext cx="157163" cy="157163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049376" y="3262908"/>
            <a:ext cx="255389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완료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575072" y="3768328"/>
            <a:ext cx="1230511" cy="61079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34"/>
          <p:cNvSpPr/>
          <p:nvPr/>
        </p:nvSpPr>
        <p:spPr>
          <a:xfrm>
            <a:off x="575072" y="3768328"/>
            <a:ext cx="1230511" cy="7144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42" name="Shape 35"/>
          <p:cNvSpPr/>
          <p:nvPr/>
        </p:nvSpPr>
        <p:spPr>
          <a:xfrm>
            <a:off x="1798439" y="3768328"/>
            <a:ext cx="7144" cy="61079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43" name="Shape 36"/>
          <p:cNvSpPr/>
          <p:nvPr/>
        </p:nvSpPr>
        <p:spPr>
          <a:xfrm>
            <a:off x="575072" y="4364831"/>
            <a:ext cx="1230511" cy="14288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44" name="Shape 37"/>
          <p:cNvSpPr/>
          <p:nvPr/>
        </p:nvSpPr>
        <p:spPr>
          <a:xfrm>
            <a:off x="575072" y="3768328"/>
            <a:ext cx="7144" cy="61079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45" name="Text 38"/>
          <p:cNvSpPr/>
          <p:nvPr/>
        </p:nvSpPr>
        <p:spPr>
          <a:xfrm>
            <a:off x="575072" y="3768328"/>
            <a:ext cx="1230511" cy="610791"/>
          </a:xfrm>
          <a:prstGeom prst="rect">
            <a:avLst/>
          </a:prstGeom>
          <a:noFill/>
          <a:ln/>
        </p:spPr>
        <p:txBody>
          <a:bodyPr wrap="non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공공 API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1802904" y="3768328"/>
            <a:ext cx="2955392" cy="61079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심평원 질병/병원 정보 파이프라인 구축</a:t>
            </a:r>
            <a:endParaRPr lang="en-US" sz="115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793735" y="3873698"/>
            <a:ext cx="157163" cy="157163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049124" y="3873698"/>
            <a:ext cx="255389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완료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5715000" y="1171575"/>
            <a:ext cx="2857500" cy="2127052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50" name="Shape 42"/>
          <p:cNvSpPr/>
          <p:nvPr/>
        </p:nvSpPr>
        <p:spPr>
          <a:xfrm>
            <a:off x="5715000" y="1171575"/>
            <a:ext cx="57150" cy="2127052"/>
          </a:xfrm>
          <a:prstGeom prst="rect">
            <a:avLst/>
          </a:prstGeom>
          <a:solidFill>
            <a:srgbClr val="F6AD55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7875" y="1349276"/>
            <a:ext cx="200025" cy="200025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129338" y="1314450"/>
            <a:ext cx="850106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잔여 과제</a:t>
            </a:r>
            <a:endParaRPr lang="en-US" sz="1400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7875" y="1684139"/>
            <a:ext cx="112514" cy="128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6041827" y="1655564"/>
            <a:ext cx="1857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UI 고도화:</a:t>
            </a:r>
            <a:endParaRPr lang="en-US" sz="1000" dirty="0"/>
          </a:p>
        </p:txBody>
      </p:sp>
      <p:sp>
        <p:nvSpPr>
          <p:cNvPr id="55" name="Text 45"/>
          <p:cNvSpPr/>
          <p:nvPr/>
        </p:nvSpPr>
        <p:spPr>
          <a:xfrm>
            <a:off x="6041827" y="1885950"/>
            <a:ext cx="185737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배리어 프리 고대비 테마 적용</a:t>
            </a:r>
            <a:endParaRPr lang="en-US" sz="105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7875" y="2184202"/>
            <a:ext cx="112514" cy="12858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041827" y="2155627"/>
            <a:ext cx="20716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로직 정밀화: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6041827" y="2386013"/>
            <a:ext cx="207168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병원 매칭 및 약 정보 정확도 향상</a:t>
            </a:r>
            <a:endParaRPr lang="en-US" sz="1050" dirty="0"/>
          </a:p>
        </p:txBody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7875" y="2684264"/>
            <a:ext cx="112514" cy="128588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6041827" y="2655689"/>
            <a:ext cx="16912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사용자 테스트:</a:t>
            </a:r>
            <a:endParaRPr lang="en-US" sz="1000" dirty="0"/>
          </a:p>
        </p:txBody>
      </p:sp>
      <p:sp>
        <p:nvSpPr>
          <p:cNvPr id="61" name="Text 49"/>
          <p:cNvSpPr/>
          <p:nvPr/>
        </p:nvSpPr>
        <p:spPr>
          <a:xfrm>
            <a:off x="6041827" y="2886075"/>
            <a:ext cx="16912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판단 일치율 90% 이상 검증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4114800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향후 발전 및 유지보수 계획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75159"/>
            <a:ext cx="185738" cy="185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243013"/>
            <a:ext cx="78938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기능 확장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42950" y="1564481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영양제 성분 분석, 실시간 원격 진료 예약 연동 등 헬스케어 생태계 확장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06" y="1275159"/>
            <a:ext cx="232172" cy="1857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54216" y="1243013"/>
            <a:ext cx="97512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보안 고도화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850606" y="1564481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민감 의료 데이터 암호화 및 비식별화 처리 고도화로 사용자 프라이버시 보호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210991"/>
            <a:ext cx="185738" cy="1857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0125" y="2178844"/>
            <a:ext cx="116085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모델 업데이트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742950" y="2500313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사용자 피드백 및 최신 의료 데이터를 반영한 질병 매핑 모델의 정기적 업데이트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606" y="2210991"/>
            <a:ext cx="162520" cy="1857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84564" y="2178844"/>
            <a:ext cx="97512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보호자 연동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4850606" y="2500313"/>
            <a:ext cx="37218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이상 증상 감지 또는 긴급 상황 시 보호자에게 자동 알림을 발송하는 안전망 구축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571500" y="4032647"/>
            <a:ext cx="8001000" cy="896541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8" name="Shape 11"/>
          <p:cNvSpPr/>
          <p:nvPr/>
        </p:nvSpPr>
        <p:spPr>
          <a:xfrm>
            <a:off x="571500" y="4032647"/>
            <a:ext cx="57150" cy="89654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2"/>
          <p:cNvSpPr/>
          <p:nvPr/>
        </p:nvSpPr>
        <p:spPr>
          <a:xfrm>
            <a:off x="857250" y="4211241"/>
            <a:ext cx="742950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"졸업작품 이후에도 의료 사각지대 해소를 위해 시스템을 지속적으로 개선하겠습니다."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83071"/>
            <a:ext cx="4795242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결론 — Dr. M.A.S가 그리는 미래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42950" y="1100138"/>
            <a:ext cx="78295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42950" y="1368028"/>
            <a:ext cx="78295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Dr. M.A.S는 </a:t>
            </a: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의료 사각지대를 해소</a:t>
            </a:r>
            <a:r>
              <a:rPr lang="en-US" sz="15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하고, 누구나 차별 없이 누리는 </a:t>
            </a:r>
            <a:r>
              <a:rPr lang="en-US" sz="14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보편적 디지털 헬스케어</a:t>
            </a:r>
            <a:r>
              <a:rPr lang="en-US" sz="150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를 지향합니다.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71500" y="1999524"/>
            <a:ext cx="2571750" cy="119300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999524"/>
            <a:ext cx="2571750" cy="2857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6"/>
          <p:cNvSpPr/>
          <p:nvPr/>
        </p:nvSpPr>
        <p:spPr>
          <a:xfrm>
            <a:off x="642938" y="2128112"/>
            <a:ext cx="242887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 신뢰성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2938" y="2435293"/>
            <a:ext cx="2428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검증된 공공 데이터 기반의 정밀 진단 가이드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86125" y="1999524"/>
            <a:ext cx="2571750" cy="119300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3286125" y="1999524"/>
            <a:ext cx="2571750" cy="28575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63" y="2070962"/>
            <a:ext cx="2428875" cy="2571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7563" y="2385287"/>
            <a:ext cx="242887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 접근성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57563" y="2692468"/>
            <a:ext cx="2428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배리어 프리 UI를 통한 디지털 격차 해소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00750" y="1999524"/>
            <a:ext cx="2571750" cy="119300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3"/>
          <p:cNvSpPr/>
          <p:nvPr/>
        </p:nvSpPr>
        <p:spPr>
          <a:xfrm>
            <a:off x="6000750" y="1999524"/>
            <a:ext cx="2571750" cy="28575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88" y="2070962"/>
            <a:ext cx="2428875" cy="2571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72188" y="2385287"/>
            <a:ext cx="2428875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 연속성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072188" y="2692468"/>
            <a:ext cx="2428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진단 이력 관리를 통한 지속 가능한 의료 케어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71500" y="3235393"/>
            <a:ext cx="8001000" cy="50542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2" name="Shape 17"/>
          <p:cNvSpPr/>
          <p:nvPr/>
        </p:nvSpPr>
        <p:spPr>
          <a:xfrm>
            <a:off x="571500" y="3235393"/>
            <a:ext cx="57150" cy="5054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18"/>
          <p:cNvSpPr/>
          <p:nvPr/>
        </p:nvSpPr>
        <p:spPr>
          <a:xfrm>
            <a:off x="785813" y="3342549"/>
            <a:ext cx="7572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"기술로 소외된 이 없이, 누구나 신뢰할 수 있는 의료 서비스를 누리는 미래"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71500" y="4454128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감사합니다 — Q&amp;A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71500" y="4859536"/>
            <a:ext cx="8001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팀장: 박윤성 | 팀원: 박세준, 강명석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672</ep:Words>
  <ep:PresentationFormat>On-screen Show (16:9)</ep:PresentationFormat>
  <ep:Paragraphs>147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2026-05-03T05:55:05.000</dcterms:created>
  <dc:creator>PptxGenJS</dc:creator>
  <cp:lastModifiedBy>강명석</cp:lastModifiedBy>
  <dcterms:modified xsi:type="dcterms:W3CDTF">2026-05-03T05:59:46.002</dcterms:modified>
  <cp:revision>3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